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rimo" panose="020B0604020202020204" charset="0"/>
      <p:regular r:id="rId10"/>
    </p:embeddedFont>
    <p:embeddedFont>
      <p:font typeface="Arimo Bold" panose="020B0604020202020204" charset="0"/>
      <p:regular r:id="rId11"/>
    </p:embeddedFont>
    <p:embeddedFont>
      <p:font typeface="Fraunces" panose="020B0604020202020204" charset="0"/>
      <p:regular r:id="rId12"/>
    </p:embeddedFont>
    <p:embeddedFont>
      <p:font typeface="Fraunces Light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6" d="100"/>
          <a:sy n="76" d="100"/>
        </p:scale>
        <p:origin x="47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hub.docker.com/r/ataches/diatoolkit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hyperlink" Target="https://github.com/sebastian-sanchez-col/DIAToolk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7850238" y="962177"/>
            <a:ext cx="9445523" cy="1719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Simulador de Impacto Presupuestal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50238" y="2739599"/>
            <a:ext cx="9445523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9"/>
              </a:lnSpc>
            </a:pPr>
            <a:r>
              <a:rPr lang="en-US" sz="2499" b="1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DIAToolkit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850238" y="4404570"/>
            <a:ext cx="4580934" cy="2983859"/>
            <a:chOff x="0" y="0"/>
            <a:chExt cx="6107913" cy="39784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107938" cy="3978529"/>
            </a:xfrm>
            <a:custGeom>
              <a:avLst/>
              <a:gdLst/>
              <a:ahLst/>
              <a:cxnLst/>
              <a:rect l="l" t="t" r="r" b="b"/>
              <a:pathLst>
                <a:path w="6107938" h="3978529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5767705" y="0"/>
                  </a:lnTo>
                  <a:cubicBezTo>
                    <a:pt x="5955665" y="0"/>
                    <a:pt x="6107938" y="152273"/>
                    <a:pt x="6107938" y="340233"/>
                  </a:cubicBezTo>
                  <a:lnTo>
                    <a:pt x="6107938" y="3638296"/>
                  </a:lnTo>
                  <a:cubicBezTo>
                    <a:pt x="6107938" y="3826256"/>
                    <a:pt x="5955665" y="3978529"/>
                    <a:pt x="5767705" y="3978529"/>
                  </a:cubicBezTo>
                  <a:lnTo>
                    <a:pt x="340233" y="3978529"/>
                  </a:lnTo>
                  <a:cubicBezTo>
                    <a:pt x="152273" y="3978529"/>
                    <a:pt x="0" y="3826129"/>
                    <a:pt x="0" y="3638296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8133750" y="4678566"/>
            <a:ext cx="4013892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Integrantes</a:t>
            </a:r>
          </a:p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ID: 244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33750" y="5639248"/>
            <a:ext cx="4013892" cy="1298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dirty="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Juan Sebastián Sanchez</a:t>
            </a:r>
          </a:p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Juan Felipe </a:t>
            </a:r>
            <a:r>
              <a:rPr lang="en-US" sz="2200" dirty="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Jurado</a:t>
            </a:r>
          </a:p>
          <a:p>
            <a:pPr algn="l">
              <a:lnSpc>
                <a:spcPts val="3511"/>
              </a:lnSpc>
            </a:pPr>
            <a:r>
              <a:rPr lang="en-US" sz="2200" dirty="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Sonia Luz González Pardo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2714684" y="4404570"/>
            <a:ext cx="4581077" cy="2983859"/>
            <a:chOff x="0" y="0"/>
            <a:chExt cx="6108103" cy="397847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108065" cy="3978529"/>
            </a:xfrm>
            <a:custGeom>
              <a:avLst/>
              <a:gdLst/>
              <a:ahLst/>
              <a:cxnLst/>
              <a:rect l="l" t="t" r="r" b="b"/>
              <a:pathLst>
                <a:path w="6108065" h="3978529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5767832" y="0"/>
                  </a:lnTo>
                  <a:cubicBezTo>
                    <a:pt x="5955792" y="0"/>
                    <a:pt x="6108065" y="152273"/>
                    <a:pt x="6108065" y="340233"/>
                  </a:cubicBezTo>
                  <a:lnTo>
                    <a:pt x="6108065" y="3638296"/>
                  </a:lnTo>
                  <a:cubicBezTo>
                    <a:pt x="6108065" y="3826256"/>
                    <a:pt x="5955792" y="3978529"/>
                    <a:pt x="5767832" y="3978529"/>
                  </a:cubicBezTo>
                  <a:lnTo>
                    <a:pt x="340233" y="3978529"/>
                  </a:lnTo>
                  <a:cubicBezTo>
                    <a:pt x="152273" y="3978529"/>
                    <a:pt x="0" y="3826129"/>
                    <a:pt x="0" y="3638296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2998206" y="4678566"/>
            <a:ext cx="4014045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Nivel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998206" y="5196335"/>
            <a:ext cx="4014045" cy="558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Intermedio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850238" y="7671940"/>
            <a:ext cx="9445523" cy="1633690"/>
            <a:chOff x="0" y="0"/>
            <a:chExt cx="12594031" cy="217825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594082" cy="2178177"/>
            </a:xfrm>
            <a:custGeom>
              <a:avLst/>
              <a:gdLst/>
              <a:ahLst/>
              <a:cxnLst/>
              <a:rect l="l" t="t" r="r" b="b"/>
              <a:pathLst>
                <a:path w="12594082" h="2178177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12253849" y="0"/>
                  </a:lnTo>
                  <a:cubicBezTo>
                    <a:pt x="12441809" y="0"/>
                    <a:pt x="12594082" y="152273"/>
                    <a:pt x="12594082" y="340233"/>
                  </a:cubicBezTo>
                  <a:lnTo>
                    <a:pt x="12594082" y="1837944"/>
                  </a:lnTo>
                  <a:cubicBezTo>
                    <a:pt x="12594082" y="2025904"/>
                    <a:pt x="12441809" y="2178177"/>
                    <a:pt x="12253849" y="2178177"/>
                  </a:cubicBezTo>
                  <a:lnTo>
                    <a:pt x="340233" y="2178177"/>
                  </a:lnTo>
                  <a:cubicBezTo>
                    <a:pt x="152273" y="2178304"/>
                    <a:pt x="0" y="2025904"/>
                    <a:pt x="0" y="1837944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8133750" y="7945936"/>
            <a:ext cx="8878491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Reto 7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33750" y="8463705"/>
            <a:ext cx="8878491" cy="558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Innovación y Tecnología</a:t>
            </a:r>
          </a:p>
        </p:txBody>
      </p:sp>
      <p:pic>
        <p:nvPicPr>
          <p:cNvPr id="22" name="Imagen 21" descr="Medellín es la segunda ciudad más competitiva en turismo en el país.">
            <a:extLst>
              <a:ext uri="{FF2B5EF4-FFF2-40B4-BE49-F238E27FC236}">
                <a16:creationId xmlns:a16="http://schemas.microsoft.com/office/drawing/2014/main" id="{8D50B725-E092-D770-6ED4-38E43D2DE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0"/>
            <a:ext cx="757938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sp>
        <p:nvSpPr>
          <p:cNvPr id="8" name="Freeform 8" descr="preencoded.png"/>
          <p:cNvSpPr/>
          <p:nvPr/>
        </p:nvSpPr>
        <p:spPr>
          <a:xfrm>
            <a:off x="7850238" y="3123457"/>
            <a:ext cx="9445523" cy="1179462"/>
          </a:xfrm>
          <a:custGeom>
            <a:avLst/>
            <a:gdLst/>
            <a:ahLst/>
            <a:cxnLst/>
            <a:rect l="l" t="t" r="r" b="b"/>
            <a:pathLst>
              <a:path w="9445523" h="1179462">
                <a:moveTo>
                  <a:pt x="0" y="0"/>
                </a:moveTo>
                <a:lnTo>
                  <a:pt x="9445524" y="0"/>
                </a:lnTo>
                <a:lnTo>
                  <a:pt x="9445524" y="1179462"/>
                </a:lnTo>
                <a:lnTo>
                  <a:pt x="0" y="11794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52" b="-51"/>
            </a:stretch>
          </a:blipFill>
        </p:spPr>
      </p:sp>
      <p:sp>
        <p:nvSpPr>
          <p:cNvPr id="9" name="Freeform 9" descr="preencoded.png"/>
          <p:cNvSpPr/>
          <p:nvPr/>
        </p:nvSpPr>
        <p:spPr>
          <a:xfrm>
            <a:off x="7850238" y="4455766"/>
            <a:ext cx="9445523" cy="1179462"/>
          </a:xfrm>
          <a:custGeom>
            <a:avLst/>
            <a:gdLst/>
            <a:ahLst/>
            <a:cxnLst/>
            <a:rect l="l" t="t" r="r" b="b"/>
            <a:pathLst>
              <a:path w="9445523" h="1179462">
                <a:moveTo>
                  <a:pt x="0" y="0"/>
                </a:moveTo>
                <a:lnTo>
                  <a:pt x="9445524" y="0"/>
                </a:lnTo>
                <a:lnTo>
                  <a:pt x="9445524" y="1179462"/>
                </a:lnTo>
                <a:lnTo>
                  <a:pt x="0" y="11794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52" b="-51"/>
            </a:stretch>
          </a:blipFill>
        </p:spPr>
      </p:sp>
      <p:sp>
        <p:nvSpPr>
          <p:cNvPr id="10" name="Freeform 10" descr="preencoded.png"/>
          <p:cNvSpPr/>
          <p:nvPr/>
        </p:nvSpPr>
        <p:spPr>
          <a:xfrm>
            <a:off x="7850238" y="5788076"/>
            <a:ext cx="9445523" cy="1179462"/>
          </a:xfrm>
          <a:custGeom>
            <a:avLst/>
            <a:gdLst/>
            <a:ahLst/>
            <a:cxnLst/>
            <a:rect l="l" t="t" r="r" b="b"/>
            <a:pathLst>
              <a:path w="9445523" h="1179462">
                <a:moveTo>
                  <a:pt x="0" y="0"/>
                </a:moveTo>
                <a:lnTo>
                  <a:pt x="9445524" y="0"/>
                </a:lnTo>
                <a:lnTo>
                  <a:pt x="9445524" y="1179462"/>
                </a:lnTo>
                <a:lnTo>
                  <a:pt x="0" y="11794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52" b="-51"/>
            </a:stretch>
          </a:blipFill>
        </p:spPr>
      </p:sp>
      <p:sp>
        <p:nvSpPr>
          <p:cNvPr id="11" name="Freeform 11" descr="preencoded.png"/>
          <p:cNvSpPr/>
          <p:nvPr/>
        </p:nvSpPr>
        <p:spPr>
          <a:xfrm>
            <a:off x="7850238" y="7120385"/>
            <a:ext cx="9445523" cy="1179462"/>
          </a:xfrm>
          <a:custGeom>
            <a:avLst/>
            <a:gdLst/>
            <a:ahLst/>
            <a:cxnLst/>
            <a:rect l="l" t="t" r="r" b="b"/>
            <a:pathLst>
              <a:path w="9445523" h="1179462">
                <a:moveTo>
                  <a:pt x="0" y="0"/>
                </a:moveTo>
                <a:lnTo>
                  <a:pt x="9445524" y="0"/>
                </a:lnTo>
                <a:lnTo>
                  <a:pt x="9445524" y="1179462"/>
                </a:lnTo>
                <a:lnTo>
                  <a:pt x="0" y="11794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52" b="-51"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7850238" y="8471745"/>
            <a:ext cx="9445523" cy="971998"/>
            <a:chOff x="0" y="0"/>
            <a:chExt cx="12594031" cy="129599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593955" cy="1295908"/>
            </a:xfrm>
            <a:custGeom>
              <a:avLst/>
              <a:gdLst/>
              <a:ahLst/>
              <a:cxnLst/>
              <a:rect l="l" t="t" r="r" b="b"/>
              <a:pathLst>
                <a:path w="12593955" h="1295908">
                  <a:moveTo>
                    <a:pt x="0" y="249809"/>
                  </a:moveTo>
                  <a:cubicBezTo>
                    <a:pt x="0" y="111887"/>
                    <a:pt x="111887" y="0"/>
                    <a:pt x="249809" y="0"/>
                  </a:cubicBezTo>
                  <a:lnTo>
                    <a:pt x="12344146" y="0"/>
                  </a:lnTo>
                  <a:cubicBezTo>
                    <a:pt x="12482195" y="0"/>
                    <a:pt x="12593955" y="111887"/>
                    <a:pt x="12593955" y="249809"/>
                  </a:cubicBezTo>
                  <a:lnTo>
                    <a:pt x="12593955" y="1046099"/>
                  </a:lnTo>
                  <a:cubicBezTo>
                    <a:pt x="12593955" y="1184148"/>
                    <a:pt x="12482068" y="1295908"/>
                    <a:pt x="12344146" y="1295908"/>
                  </a:cubicBezTo>
                  <a:lnTo>
                    <a:pt x="249809" y="1295908"/>
                  </a:lnTo>
                  <a:cubicBezTo>
                    <a:pt x="111887" y="1296035"/>
                    <a:pt x="0" y="1184148"/>
                    <a:pt x="0" y="1046099"/>
                  </a:cubicBezTo>
                  <a:close/>
                </a:path>
              </a:pathLst>
            </a:custGeom>
            <a:solidFill>
              <a:srgbClr val="DDEEE0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8058445" y="8749608"/>
            <a:ext cx="260156" cy="208207"/>
            <a:chOff x="0" y="0"/>
            <a:chExt cx="346875" cy="277609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346837" cy="277622"/>
            </a:xfrm>
            <a:custGeom>
              <a:avLst/>
              <a:gdLst/>
              <a:ahLst/>
              <a:cxnLst/>
              <a:rect l="l" t="t" r="r" b="b"/>
              <a:pathLst>
                <a:path w="346837" h="277622">
                  <a:moveTo>
                    <a:pt x="0" y="0"/>
                  </a:moveTo>
                  <a:lnTo>
                    <a:pt x="346837" y="0"/>
                  </a:lnTo>
                  <a:lnTo>
                    <a:pt x="346837" y="277622"/>
                  </a:lnTo>
                  <a:lnTo>
                    <a:pt x="0" y="2776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30" r="-941" b="4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7850238" y="833590"/>
            <a:ext cx="9445523" cy="1310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2"/>
              </a:lnSpc>
            </a:pPr>
            <a:r>
              <a:rPr lang="en-US" sz="4000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¿La ciudad invierte donde más se necesita?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50238" y="2326186"/>
            <a:ext cx="9445523" cy="625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La información pública existe, pero está dispersa y no permite responder fácilmente una pregunta clave: ¿la ciudad invierte más donde más se necesita?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01320" y="3360239"/>
            <a:ext cx="8857650" cy="325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Datos dispersos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201320" y="3729638"/>
            <a:ext cx="8857650" cy="336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Información pública fragmentada en múltiples fuentes sin conexión entre sí.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01320" y="4692548"/>
            <a:ext cx="8857650" cy="325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Formatos inconsistentes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201320" y="5061947"/>
            <a:ext cx="8857650" cy="336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Cada año utiliza estructuras distintas, dificultando comparaciones temporales.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01320" y="6024858"/>
            <a:ext cx="8857650" cy="325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Sin herramienta integrada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201320" y="6394247"/>
            <a:ext cx="8857650" cy="336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No existe una plataforma unificada para consultar y cruzar datos de inversión.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01320" y="7357167"/>
            <a:ext cx="8857650" cy="325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Análisis manual y lento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201320" y="7726566"/>
            <a:ext cx="8857650" cy="336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Los procesos de análisis consumen tiempo y recursos sin garantizar precisión.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526809" y="8628907"/>
            <a:ext cx="8560746" cy="625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Objetivo:</a:t>
            </a:r>
            <a:r>
              <a:rPr lang="en-US" sz="1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Construir una plataforma basada en IA que integre datos abiertos para clasificar vulnerabilidad, simular inversión y facilitar consultas ciudadanas.</a:t>
            </a:r>
          </a:p>
        </p:txBody>
      </p:sp>
      <p:pic>
        <p:nvPicPr>
          <p:cNvPr id="27" name="Imagen 26" descr="Cómo hacer una planificación y asignación óptima de los recursos">
            <a:extLst>
              <a:ext uri="{FF2B5EF4-FFF2-40B4-BE49-F238E27FC236}">
                <a16:creationId xmlns:a16="http://schemas.microsoft.com/office/drawing/2014/main" id="{B7D42184-AA26-1B24-2A53-13665FEDBA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47327"/>
            <a:ext cx="7238999" cy="77923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770182"/>
            <a:ext cx="1630352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Pipeline de Datos Abiertos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187283" y="900932"/>
            <a:ext cx="6252420" cy="6252420"/>
            <a:chOff x="0" y="0"/>
            <a:chExt cx="8336559" cy="833655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336534" cy="8336534"/>
            </a:xfrm>
            <a:custGeom>
              <a:avLst/>
              <a:gdLst/>
              <a:ahLst/>
              <a:cxnLst/>
              <a:rect l="l" t="t" r="r" b="b"/>
              <a:pathLst>
                <a:path w="8336534" h="8336534">
                  <a:moveTo>
                    <a:pt x="0" y="0"/>
                  </a:moveTo>
                  <a:lnTo>
                    <a:pt x="8336534" y="0"/>
                  </a:lnTo>
                  <a:lnTo>
                    <a:pt x="8336534" y="8336534"/>
                  </a:lnTo>
                  <a:lnTo>
                    <a:pt x="0" y="8336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419" b="-2419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796376" y="7552211"/>
            <a:ext cx="283521" cy="177108"/>
            <a:chOff x="0" y="0"/>
            <a:chExt cx="378028" cy="23614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78024" cy="236141"/>
            </a:xfrm>
            <a:custGeom>
              <a:avLst/>
              <a:gdLst/>
              <a:ahLst/>
              <a:cxnLst/>
              <a:rect l="l" t="t" r="r" b="b"/>
              <a:pathLst>
                <a:path w="378024" h="236141">
                  <a:moveTo>
                    <a:pt x="0" y="0"/>
                  </a:moveTo>
                  <a:lnTo>
                    <a:pt x="378024" y="0"/>
                  </a:lnTo>
                  <a:lnTo>
                    <a:pt x="378024" y="236141"/>
                  </a:lnTo>
                  <a:lnTo>
                    <a:pt x="0" y="2361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48" r="-30149" b="-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378028" cy="2456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320"/>
                </a:lnSpc>
              </a:pPr>
              <a:r>
                <a:rPr lang="en-US" sz="1100">
                  <a:solidFill>
                    <a:srgbClr val="405449"/>
                  </a:solidFill>
                  <a:latin typeface="Fraunces Light"/>
                  <a:ea typeface="Fraunces Light"/>
                  <a:cs typeface="Fraunces Light"/>
                  <a:sym typeface="Fraunces Light"/>
                </a:rPr>
                <a:t>01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96376" y="7773962"/>
            <a:ext cx="5387283" cy="19050"/>
            <a:chOff x="0" y="0"/>
            <a:chExt cx="7183044" cy="25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182993" cy="25400"/>
            </a:xfrm>
            <a:custGeom>
              <a:avLst/>
              <a:gdLst/>
              <a:ahLst/>
              <a:cxnLst/>
              <a:rect l="l" t="t" r="r" b="b"/>
              <a:pathLst>
                <a:path w="7182993" h="25400">
                  <a:moveTo>
                    <a:pt x="0" y="0"/>
                  </a:moveTo>
                  <a:lnTo>
                    <a:pt x="7182993" y="0"/>
                  </a:lnTo>
                  <a:lnTo>
                    <a:pt x="718299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438951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6254506" y="7552211"/>
            <a:ext cx="283521" cy="177108"/>
            <a:chOff x="0" y="0"/>
            <a:chExt cx="378028" cy="23614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78024" cy="236141"/>
            </a:xfrm>
            <a:custGeom>
              <a:avLst/>
              <a:gdLst/>
              <a:ahLst/>
              <a:cxnLst/>
              <a:rect l="l" t="t" r="r" b="b"/>
              <a:pathLst>
                <a:path w="378024" h="236141">
                  <a:moveTo>
                    <a:pt x="0" y="0"/>
                  </a:moveTo>
                  <a:lnTo>
                    <a:pt x="378024" y="0"/>
                  </a:lnTo>
                  <a:lnTo>
                    <a:pt x="378024" y="236141"/>
                  </a:lnTo>
                  <a:lnTo>
                    <a:pt x="0" y="2361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48" r="-30149" b="-1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378028" cy="2456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320"/>
                </a:lnSpc>
              </a:pPr>
              <a:r>
                <a:rPr lang="en-US" sz="1100">
                  <a:solidFill>
                    <a:srgbClr val="405449"/>
                  </a:solidFill>
                  <a:latin typeface="Fraunces Light"/>
                  <a:ea typeface="Fraunces Light"/>
                  <a:cs typeface="Fraunces Light"/>
                  <a:sym typeface="Fraunces Light"/>
                </a:rPr>
                <a:t>02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254506" y="7773962"/>
            <a:ext cx="5387283" cy="19050"/>
            <a:chOff x="0" y="0"/>
            <a:chExt cx="7183044" cy="25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182993" cy="25400"/>
            </a:xfrm>
            <a:custGeom>
              <a:avLst/>
              <a:gdLst/>
              <a:ahLst/>
              <a:cxnLst/>
              <a:rect l="l" t="t" r="r" b="b"/>
              <a:pathLst>
                <a:path w="7182993" h="25400">
                  <a:moveTo>
                    <a:pt x="0" y="0"/>
                  </a:moveTo>
                  <a:lnTo>
                    <a:pt x="7182993" y="0"/>
                  </a:lnTo>
                  <a:lnTo>
                    <a:pt x="718299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438951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11712626" y="7552211"/>
            <a:ext cx="283521" cy="177108"/>
            <a:chOff x="0" y="0"/>
            <a:chExt cx="378028" cy="23614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8024" cy="236141"/>
            </a:xfrm>
            <a:custGeom>
              <a:avLst/>
              <a:gdLst/>
              <a:ahLst/>
              <a:cxnLst/>
              <a:rect l="l" t="t" r="r" b="b"/>
              <a:pathLst>
                <a:path w="378024" h="236141">
                  <a:moveTo>
                    <a:pt x="0" y="0"/>
                  </a:moveTo>
                  <a:lnTo>
                    <a:pt x="378024" y="0"/>
                  </a:lnTo>
                  <a:lnTo>
                    <a:pt x="378024" y="236141"/>
                  </a:lnTo>
                  <a:lnTo>
                    <a:pt x="0" y="2361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48" r="-30149" b="-1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378028" cy="2456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320"/>
                </a:lnSpc>
              </a:pPr>
              <a:r>
                <a:rPr lang="en-US" sz="1100">
                  <a:solidFill>
                    <a:srgbClr val="405449"/>
                  </a:solidFill>
                  <a:latin typeface="Fraunces Light"/>
                  <a:ea typeface="Fraunces Light"/>
                  <a:cs typeface="Fraunces Light"/>
                  <a:sym typeface="Fraunces Light"/>
                </a:rPr>
                <a:t>03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712626" y="7773962"/>
            <a:ext cx="5387283" cy="19050"/>
            <a:chOff x="0" y="0"/>
            <a:chExt cx="7183044" cy="25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182993" cy="25400"/>
            </a:xfrm>
            <a:custGeom>
              <a:avLst/>
              <a:gdLst/>
              <a:ahLst/>
              <a:cxnLst/>
              <a:rect l="l" t="t" r="r" b="b"/>
              <a:pathLst>
                <a:path w="7182993" h="25400">
                  <a:moveTo>
                    <a:pt x="0" y="0"/>
                  </a:moveTo>
                  <a:lnTo>
                    <a:pt x="7182993" y="0"/>
                  </a:lnTo>
                  <a:lnTo>
                    <a:pt x="718299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438951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796376" y="8493995"/>
            <a:ext cx="283521" cy="177108"/>
            <a:chOff x="0" y="0"/>
            <a:chExt cx="378028" cy="23614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78024" cy="236141"/>
            </a:xfrm>
            <a:custGeom>
              <a:avLst/>
              <a:gdLst/>
              <a:ahLst/>
              <a:cxnLst/>
              <a:rect l="l" t="t" r="r" b="b"/>
              <a:pathLst>
                <a:path w="378024" h="236141">
                  <a:moveTo>
                    <a:pt x="0" y="0"/>
                  </a:moveTo>
                  <a:lnTo>
                    <a:pt x="378024" y="0"/>
                  </a:lnTo>
                  <a:lnTo>
                    <a:pt x="378024" y="236141"/>
                  </a:lnTo>
                  <a:lnTo>
                    <a:pt x="0" y="2361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48" r="-30149" b="-1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378028" cy="2456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320"/>
                </a:lnSpc>
              </a:pPr>
              <a:r>
                <a:rPr lang="en-US" sz="1100">
                  <a:solidFill>
                    <a:srgbClr val="405449"/>
                  </a:solidFill>
                  <a:latin typeface="Fraunces Light"/>
                  <a:ea typeface="Fraunces Light"/>
                  <a:cs typeface="Fraunces Light"/>
                  <a:sym typeface="Fraunces Light"/>
                </a:rPr>
                <a:t>04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96376" y="8715746"/>
            <a:ext cx="8116338" cy="19050"/>
            <a:chOff x="0" y="0"/>
            <a:chExt cx="10821784" cy="254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821797" cy="25400"/>
            </a:xfrm>
            <a:custGeom>
              <a:avLst/>
              <a:gdLst/>
              <a:ahLst/>
              <a:cxnLst/>
              <a:rect l="l" t="t" r="r" b="b"/>
              <a:pathLst>
                <a:path w="10821797" h="25400">
                  <a:moveTo>
                    <a:pt x="0" y="0"/>
                  </a:moveTo>
                  <a:lnTo>
                    <a:pt x="10821797" y="0"/>
                  </a:lnTo>
                  <a:lnTo>
                    <a:pt x="10821797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438951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8983561" y="8493995"/>
            <a:ext cx="283521" cy="177108"/>
            <a:chOff x="0" y="0"/>
            <a:chExt cx="378028" cy="23614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78024" cy="236141"/>
            </a:xfrm>
            <a:custGeom>
              <a:avLst/>
              <a:gdLst/>
              <a:ahLst/>
              <a:cxnLst/>
              <a:rect l="l" t="t" r="r" b="b"/>
              <a:pathLst>
                <a:path w="378024" h="236141">
                  <a:moveTo>
                    <a:pt x="0" y="0"/>
                  </a:moveTo>
                  <a:lnTo>
                    <a:pt x="378024" y="0"/>
                  </a:lnTo>
                  <a:lnTo>
                    <a:pt x="378024" y="236141"/>
                  </a:lnTo>
                  <a:lnTo>
                    <a:pt x="0" y="2361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48" r="-30149" b="-1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9525"/>
              <a:ext cx="378028" cy="2456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320"/>
                </a:lnSpc>
              </a:pPr>
              <a:r>
                <a:rPr lang="en-US" sz="1100">
                  <a:solidFill>
                    <a:srgbClr val="405449"/>
                  </a:solidFill>
                  <a:latin typeface="Fraunces Light"/>
                  <a:ea typeface="Fraunces Light"/>
                  <a:cs typeface="Fraunces Light"/>
                  <a:sym typeface="Fraunces Light"/>
                </a:rPr>
                <a:t>05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983561" y="8715746"/>
            <a:ext cx="8116338" cy="19050"/>
            <a:chOff x="0" y="0"/>
            <a:chExt cx="10821784" cy="254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821797" cy="25400"/>
            </a:xfrm>
            <a:custGeom>
              <a:avLst/>
              <a:gdLst/>
              <a:ahLst/>
              <a:cxnLst/>
              <a:rect l="l" t="t" r="r" b="b"/>
              <a:pathLst>
                <a:path w="10821797" h="25400">
                  <a:moveTo>
                    <a:pt x="0" y="0"/>
                  </a:moveTo>
                  <a:lnTo>
                    <a:pt x="10821797" y="0"/>
                  </a:lnTo>
                  <a:lnTo>
                    <a:pt x="10821797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438951"/>
            </a:solidFill>
          </p:spPr>
        </p:sp>
      </p:grpSp>
      <p:sp>
        <p:nvSpPr>
          <p:cNvPr id="34" name="TextBox 34"/>
          <p:cNvSpPr txBox="1"/>
          <p:nvPr/>
        </p:nvSpPr>
        <p:spPr>
          <a:xfrm>
            <a:off x="992238" y="2218582"/>
            <a:ext cx="8151762" cy="218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El proceso integra </a:t>
            </a:r>
            <a:r>
              <a:rPr lang="en-US" sz="2400" b="1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Inversión pública, Régimen subsidiado, Inclusión social y discapacidad,  Subsidios EPM, Subsidios Aseo ,Becas y créditos educativos</a:t>
            </a:r>
            <a:r>
              <a:rPr lang="en-US" sz="24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en un flujo automatizado que garantiza trazabilidad y transparencia. Los datos que no pueden asociarse a una comuna se documentan automáticamente para auditoría.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6376" y="7873375"/>
            <a:ext cx="5387283" cy="230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300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7 Datasets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6376" y="8127730"/>
            <a:ext cx="5387283" cy="1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Fuentes oficiales de Medellín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254506" y="7873375"/>
            <a:ext cx="5387283" cy="230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300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Limpieza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254506" y="8127730"/>
            <a:ext cx="5387283" cy="1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Normalización y depuración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712626" y="7873375"/>
            <a:ext cx="5387283" cy="230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300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Homologación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712626" y="8127730"/>
            <a:ext cx="5387283" cy="1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Unificación de formatos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96376" y="8815159"/>
            <a:ext cx="8116338" cy="230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300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Integración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6376" y="9069514"/>
            <a:ext cx="8116338" cy="1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Cruce por comuna y año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983561" y="8815159"/>
            <a:ext cx="8116338" cy="230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300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Modelo IA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983561" y="9069514"/>
            <a:ext cx="8116338" cy="1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Clasificación y predicción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770182"/>
            <a:ext cx="1630352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Arquitectura de Inteligencia Artificial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1354779"/>
            <a:ext cx="17217923" cy="1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Un sistema multicapa que transforma datos abiertos en insights accionables para la administración pública.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2238" y="1614040"/>
            <a:ext cx="16303523" cy="7461199"/>
            <a:chOff x="0" y="0"/>
            <a:chExt cx="21738031" cy="9948266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21738082" cy="9948291"/>
            </a:xfrm>
            <a:custGeom>
              <a:avLst/>
              <a:gdLst/>
              <a:ahLst/>
              <a:cxnLst/>
              <a:rect l="l" t="t" r="r" b="b"/>
              <a:pathLst>
                <a:path w="21738082" h="9948291">
                  <a:moveTo>
                    <a:pt x="0" y="0"/>
                  </a:moveTo>
                  <a:lnTo>
                    <a:pt x="21738082" y="0"/>
                  </a:lnTo>
                  <a:lnTo>
                    <a:pt x="21738082" y="9948291"/>
                  </a:lnTo>
                  <a:lnTo>
                    <a:pt x="0" y="9948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2" b="-32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2934617" y="2424455"/>
            <a:ext cx="3975154" cy="901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Interacción y Visualización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934617" y="3492417"/>
            <a:ext cx="3975154" cy="502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22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Asistente conversacional y panel web interactivo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25902" y="4967040"/>
            <a:ext cx="3606498" cy="450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94"/>
              </a:lnSpc>
            </a:pPr>
            <a:r>
              <a:rPr lang="en-US" sz="2799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Modelos Analíticos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77820" y="5584184"/>
            <a:ext cx="3654581" cy="773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59"/>
              </a:lnSpc>
            </a:pPr>
            <a:r>
              <a:rPr lang="en-US" sz="22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K-Means y Random Forest para clasificación y predicción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934617" y="6368558"/>
            <a:ext cx="3606489" cy="450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Core de Datos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934617" y="6985702"/>
            <a:ext cx="3975154" cy="502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22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7 datasets públicos de Medellín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92238" y="8637689"/>
            <a:ext cx="16303523" cy="429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endParaRPr/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Cada capa añade valor: desde la integración de datos hasta la visualización interactiva, pasando por modelos de aprendizaje automático que clasifican y predicen patrones de inversión.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8" y="2480367"/>
            <a:ext cx="5106734" cy="2808122"/>
            <a:chOff x="0" y="0"/>
            <a:chExt cx="6808978" cy="37441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808978" cy="3744214"/>
            </a:xfrm>
            <a:custGeom>
              <a:avLst/>
              <a:gdLst/>
              <a:ahLst/>
              <a:cxnLst/>
              <a:rect l="l" t="t" r="r" b="b"/>
              <a:pathLst>
                <a:path w="6808978" h="3744214">
                  <a:moveTo>
                    <a:pt x="0" y="0"/>
                  </a:moveTo>
                  <a:lnTo>
                    <a:pt x="6808978" y="0"/>
                  </a:lnTo>
                  <a:lnTo>
                    <a:pt x="6808978" y="3744214"/>
                  </a:lnTo>
                  <a:lnTo>
                    <a:pt x="0" y="3744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85" b="-385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6482058" y="2353313"/>
            <a:ext cx="5003749" cy="2780462"/>
            <a:chOff x="0" y="0"/>
            <a:chExt cx="6671666" cy="3707282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6671691" cy="3707257"/>
            </a:xfrm>
            <a:custGeom>
              <a:avLst/>
              <a:gdLst/>
              <a:ahLst/>
              <a:cxnLst/>
              <a:rect l="l" t="t" r="r" b="b"/>
              <a:pathLst>
                <a:path w="6671691" h="3707257">
                  <a:moveTo>
                    <a:pt x="0" y="0"/>
                  </a:moveTo>
                  <a:lnTo>
                    <a:pt x="6671691" y="0"/>
                  </a:lnTo>
                  <a:lnTo>
                    <a:pt x="6671691" y="3707257"/>
                  </a:lnTo>
                  <a:lnTo>
                    <a:pt x="0" y="37072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" r="-1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6482058" y="5078073"/>
            <a:ext cx="5003749" cy="1846602"/>
            <a:chOff x="0" y="0"/>
            <a:chExt cx="6671666" cy="2462136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6671691" cy="2462149"/>
            </a:xfrm>
            <a:custGeom>
              <a:avLst/>
              <a:gdLst/>
              <a:ahLst/>
              <a:cxnLst/>
              <a:rect l="l" t="t" r="r" b="b"/>
              <a:pathLst>
                <a:path w="6671691" h="2462149">
                  <a:moveTo>
                    <a:pt x="0" y="0"/>
                  </a:moveTo>
                  <a:lnTo>
                    <a:pt x="6671691" y="0"/>
                  </a:lnTo>
                  <a:lnTo>
                    <a:pt x="6671691" y="2462149"/>
                  </a:lnTo>
                  <a:lnTo>
                    <a:pt x="0" y="24621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60" b="-259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992238" y="7111603"/>
            <a:ext cx="5323732" cy="2303116"/>
            <a:chOff x="0" y="0"/>
            <a:chExt cx="7098309" cy="307082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098285" cy="3070860"/>
            </a:xfrm>
            <a:custGeom>
              <a:avLst/>
              <a:gdLst/>
              <a:ahLst/>
              <a:cxnLst/>
              <a:rect l="l" t="t" r="r" b="b"/>
              <a:pathLst>
                <a:path w="7098285" h="3070860">
                  <a:moveTo>
                    <a:pt x="0" y="260477"/>
                  </a:moveTo>
                  <a:cubicBezTo>
                    <a:pt x="0" y="116586"/>
                    <a:pt x="116586" y="0"/>
                    <a:pt x="260477" y="0"/>
                  </a:cubicBezTo>
                  <a:lnTo>
                    <a:pt x="6837807" y="0"/>
                  </a:lnTo>
                  <a:cubicBezTo>
                    <a:pt x="6981699" y="0"/>
                    <a:pt x="7098285" y="116586"/>
                    <a:pt x="7098285" y="260477"/>
                  </a:cubicBezTo>
                  <a:lnTo>
                    <a:pt x="7098285" y="2810383"/>
                  </a:lnTo>
                  <a:cubicBezTo>
                    <a:pt x="7098285" y="2954274"/>
                    <a:pt x="6981699" y="3070860"/>
                    <a:pt x="6837807" y="3070860"/>
                  </a:cubicBezTo>
                  <a:lnTo>
                    <a:pt x="260477" y="3070860"/>
                  </a:lnTo>
                  <a:cubicBezTo>
                    <a:pt x="116586" y="3070860"/>
                    <a:pt x="0" y="2954147"/>
                    <a:pt x="0" y="2810383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209227" y="7328592"/>
            <a:ext cx="651119" cy="651119"/>
            <a:chOff x="0" y="0"/>
            <a:chExt cx="868159" cy="86815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68172" cy="868172"/>
            </a:xfrm>
            <a:custGeom>
              <a:avLst/>
              <a:gdLst/>
              <a:ahLst/>
              <a:cxnLst/>
              <a:rect l="l" t="t" r="r" b="b"/>
              <a:pathLst>
                <a:path w="868172" h="868172">
                  <a:moveTo>
                    <a:pt x="0" y="434086"/>
                  </a:moveTo>
                  <a:cubicBezTo>
                    <a:pt x="0" y="194310"/>
                    <a:pt x="194310" y="0"/>
                    <a:pt x="434086" y="0"/>
                  </a:cubicBezTo>
                  <a:cubicBezTo>
                    <a:pt x="673862" y="0"/>
                    <a:pt x="868172" y="194310"/>
                    <a:pt x="868172" y="434086"/>
                  </a:cubicBezTo>
                  <a:cubicBezTo>
                    <a:pt x="868172" y="673862"/>
                    <a:pt x="673862" y="868172"/>
                    <a:pt x="434086" y="868172"/>
                  </a:cubicBezTo>
                  <a:cubicBezTo>
                    <a:pt x="194310" y="868172"/>
                    <a:pt x="0" y="673862"/>
                    <a:pt x="0" y="434086"/>
                  </a:cubicBezTo>
                  <a:close/>
                </a:path>
              </a:pathLst>
            </a:custGeom>
            <a:solidFill>
              <a:srgbClr val="438951"/>
            </a:solidFill>
          </p:spPr>
        </p:sp>
      </p:grpSp>
      <p:sp>
        <p:nvSpPr>
          <p:cNvPr id="16" name="Freeform 16" descr="preencoded.png"/>
          <p:cNvSpPr/>
          <p:nvPr/>
        </p:nvSpPr>
        <p:spPr>
          <a:xfrm>
            <a:off x="1388269" y="7507634"/>
            <a:ext cx="293046" cy="293046"/>
          </a:xfrm>
          <a:custGeom>
            <a:avLst/>
            <a:gdLst/>
            <a:ahLst/>
            <a:cxnLst/>
            <a:rect l="l" t="t" r="r" b="b"/>
            <a:pathLst>
              <a:path w="293046" h="293046">
                <a:moveTo>
                  <a:pt x="0" y="0"/>
                </a:moveTo>
                <a:lnTo>
                  <a:pt x="293046" y="0"/>
                </a:lnTo>
                <a:lnTo>
                  <a:pt x="293046" y="293046"/>
                </a:lnTo>
                <a:lnTo>
                  <a:pt x="0" y="2930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839" r="-4836"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6482058" y="7111603"/>
            <a:ext cx="5323732" cy="2303116"/>
            <a:chOff x="0" y="0"/>
            <a:chExt cx="7098309" cy="307082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098285" cy="3070860"/>
            </a:xfrm>
            <a:custGeom>
              <a:avLst/>
              <a:gdLst/>
              <a:ahLst/>
              <a:cxnLst/>
              <a:rect l="l" t="t" r="r" b="b"/>
              <a:pathLst>
                <a:path w="7098285" h="3070860">
                  <a:moveTo>
                    <a:pt x="0" y="260477"/>
                  </a:moveTo>
                  <a:cubicBezTo>
                    <a:pt x="0" y="116586"/>
                    <a:pt x="116586" y="0"/>
                    <a:pt x="260477" y="0"/>
                  </a:cubicBezTo>
                  <a:lnTo>
                    <a:pt x="6837807" y="0"/>
                  </a:lnTo>
                  <a:cubicBezTo>
                    <a:pt x="6981699" y="0"/>
                    <a:pt x="7098285" y="116586"/>
                    <a:pt x="7098285" y="260477"/>
                  </a:cubicBezTo>
                  <a:lnTo>
                    <a:pt x="7098285" y="2810383"/>
                  </a:lnTo>
                  <a:cubicBezTo>
                    <a:pt x="7098285" y="2954274"/>
                    <a:pt x="6981699" y="3070860"/>
                    <a:pt x="6837807" y="3070860"/>
                  </a:cubicBezTo>
                  <a:lnTo>
                    <a:pt x="260477" y="3070860"/>
                  </a:lnTo>
                  <a:cubicBezTo>
                    <a:pt x="116586" y="3070860"/>
                    <a:pt x="0" y="2954147"/>
                    <a:pt x="0" y="2810383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6699056" y="7328592"/>
            <a:ext cx="651119" cy="651119"/>
            <a:chOff x="0" y="0"/>
            <a:chExt cx="868159" cy="86815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68172" cy="868172"/>
            </a:xfrm>
            <a:custGeom>
              <a:avLst/>
              <a:gdLst/>
              <a:ahLst/>
              <a:cxnLst/>
              <a:rect l="l" t="t" r="r" b="b"/>
              <a:pathLst>
                <a:path w="868172" h="868172">
                  <a:moveTo>
                    <a:pt x="0" y="434086"/>
                  </a:moveTo>
                  <a:cubicBezTo>
                    <a:pt x="0" y="194310"/>
                    <a:pt x="194310" y="0"/>
                    <a:pt x="434086" y="0"/>
                  </a:cubicBezTo>
                  <a:cubicBezTo>
                    <a:pt x="673862" y="0"/>
                    <a:pt x="868172" y="194310"/>
                    <a:pt x="868172" y="434086"/>
                  </a:cubicBezTo>
                  <a:cubicBezTo>
                    <a:pt x="868172" y="673862"/>
                    <a:pt x="673862" y="868172"/>
                    <a:pt x="434086" y="868172"/>
                  </a:cubicBezTo>
                  <a:cubicBezTo>
                    <a:pt x="194310" y="868172"/>
                    <a:pt x="0" y="673862"/>
                    <a:pt x="0" y="434086"/>
                  </a:cubicBezTo>
                  <a:close/>
                </a:path>
              </a:pathLst>
            </a:custGeom>
            <a:solidFill>
              <a:srgbClr val="438951"/>
            </a:solidFill>
          </p:spPr>
        </p:sp>
      </p:grpSp>
      <p:sp>
        <p:nvSpPr>
          <p:cNvPr id="21" name="Freeform 21" descr="preencoded.png"/>
          <p:cNvSpPr/>
          <p:nvPr/>
        </p:nvSpPr>
        <p:spPr>
          <a:xfrm>
            <a:off x="6878088" y="7507634"/>
            <a:ext cx="293046" cy="293046"/>
          </a:xfrm>
          <a:custGeom>
            <a:avLst/>
            <a:gdLst/>
            <a:ahLst/>
            <a:cxnLst/>
            <a:rect l="l" t="t" r="r" b="b"/>
            <a:pathLst>
              <a:path w="293046" h="293046">
                <a:moveTo>
                  <a:pt x="0" y="0"/>
                </a:moveTo>
                <a:lnTo>
                  <a:pt x="293046" y="0"/>
                </a:lnTo>
                <a:lnTo>
                  <a:pt x="293046" y="293046"/>
                </a:lnTo>
                <a:lnTo>
                  <a:pt x="0" y="2930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6451" r="-6448"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11971887" y="7111603"/>
            <a:ext cx="5323732" cy="2303116"/>
            <a:chOff x="0" y="0"/>
            <a:chExt cx="7098309" cy="307082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098285" cy="3070860"/>
            </a:xfrm>
            <a:custGeom>
              <a:avLst/>
              <a:gdLst/>
              <a:ahLst/>
              <a:cxnLst/>
              <a:rect l="l" t="t" r="r" b="b"/>
              <a:pathLst>
                <a:path w="7098285" h="3070860">
                  <a:moveTo>
                    <a:pt x="0" y="260477"/>
                  </a:moveTo>
                  <a:cubicBezTo>
                    <a:pt x="0" y="116586"/>
                    <a:pt x="116586" y="0"/>
                    <a:pt x="260477" y="0"/>
                  </a:cubicBezTo>
                  <a:lnTo>
                    <a:pt x="6837807" y="0"/>
                  </a:lnTo>
                  <a:cubicBezTo>
                    <a:pt x="6981699" y="0"/>
                    <a:pt x="7098285" y="116586"/>
                    <a:pt x="7098285" y="260477"/>
                  </a:cubicBezTo>
                  <a:lnTo>
                    <a:pt x="7098285" y="2810383"/>
                  </a:lnTo>
                  <a:cubicBezTo>
                    <a:pt x="7098285" y="2954274"/>
                    <a:pt x="6981699" y="3070860"/>
                    <a:pt x="6837807" y="3070860"/>
                  </a:cubicBezTo>
                  <a:lnTo>
                    <a:pt x="260477" y="3070860"/>
                  </a:lnTo>
                  <a:cubicBezTo>
                    <a:pt x="116586" y="3070860"/>
                    <a:pt x="0" y="2954147"/>
                    <a:pt x="0" y="2810383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2188876" y="7328592"/>
            <a:ext cx="651119" cy="651119"/>
            <a:chOff x="0" y="0"/>
            <a:chExt cx="868159" cy="86815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68172" cy="868172"/>
            </a:xfrm>
            <a:custGeom>
              <a:avLst/>
              <a:gdLst/>
              <a:ahLst/>
              <a:cxnLst/>
              <a:rect l="l" t="t" r="r" b="b"/>
              <a:pathLst>
                <a:path w="868172" h="868172">
                  <a:moveTo>
                    <a:pt x="0" y="434086"/>
                  </a:moveTo>
                  <a:cubicBezTo>
                    <a:pt x="0" y="194310"/>
                    <a:pt x="194310" y="0"/>
                    <a:pt x="434086" y="0"/>
                  </a:cubicBezTo>
                  <a:cubicBezTo>
                    <a:pt x="673862" y="0"/>
                    <a:pt x="868172" y="194310"/>
                    <a:pt x="868172" y="434086"/>
                  </a:cubicBezTo>
                  <a:cubicBezTo>
                    <a:pt x="868172" y="673862"/>
                    <a:pt x="673862" y="868172"/>
                    <a:pt x="434086" y="868172"/>
                  </a:cubicBezTo>
                  <a:cubicBezTo>
                    <a:pt x="194310" y="868172"/>
                    <a:pt x="0" y="673862"/>
                    <a:pt x="0" y="434086"/>
                  </a:cubicBezTo>
                  <a:close/>
                </a:path>
              </a:pathLst>
            </a:custGeom>
            <a:solidFill>
              <a:srgbClr val="438951"/>
            </a:solidFill>
          </p:spPr>
        </p:sp>
      </p:grpSp>
      <p:sp>
        <p:nvSpPr>
          <p:cNvPr id="26" name="Freeform 26" descr="preencoded.png"/>
          <p:cNvSpPr/>
          <p:nvPr/>
        </p:nvSpPr>
        <p:spPr>
          <a:xfrm>
            <a:off x="12367917" y="7507634"/>
            <a:ext cx="293046" cy="293046"/>
          </a:xfrm>
          <a:custGeom>
            <a:avLst/>
            <a:gdLst/>
            <a:ahLst/>
            <a:cxnLst/>
            <a:rect l="l" t="t" r="r" b="b"/>
            <a:pathLst>
              <a:path w="293046" h="293046">
                <a:moveTo>
                  <a:pt x="0" y="0"/>
                </a:moveTo>
                <a:lnTo>
                  <a:pt x="293046" y="0"/>
                </a:lnTo>
                <a:lnTo>
                  <a:pt x="293046" y="293046"/>
                </a:lnTo>
                <a:lnTo>
                  <a:pt x="0" y="2930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4839" r="-4836"/>
            </a:stretch>
          </a:blipFill>
        </p:spPr>
      </p:sp>
      <p:grpSp>
        <p:nvGrpSpPr>
          <p:cNvPr id="27" name="Group 27"/>
          <p:cNvGrpSpPr/>
          <p:nvPr/>
        </p:nvGrpSpPr>
        <p:grpSpPr>
          <a:xfrm>
            <a:off x="13047053" y="2260077"/>
            <a:ext cx="3173400" cy="4443787"/>
            <a:chOff x="0" y="0"/>
            <a:chExt cx="812800" cy="113818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1138183"/>
            </a:xfrm>
            <a:custGeom>
              <a:avLst/>
              <a:gdLst/>
              <a:ahLst/>
              <a:cxnLst/>
              <a:rect l="l" t="t" r="r" b="b"/>
              <a:pathLst>
                <a:path w="812800" h="1138183">
                  <a:moveTo>
                    <a:pt x="0" y="0"/>
                  </a:moveTo>
                  <a:lnTo>
                    <a:pt x="812800" y="0"/>
                  </a:lnTo>
                  <a:lnTo>
                    <a:pt x="812800" y="1138183"/>
                  </a:lnTo>
                  <a:lnTo>
                    <a:pt x="0" y="1138183"/>
                  </a:lnTo>
                  <a:close/>
                </a:path>
              </a:pathLst>
            </a:custGeom>
            <a:blipFill>
              <a:blip r:embed="rId8"/>
              <a:stretch>
                <a:fillRect l="-462" r="-462"/>
              </a:stretch>
            </a:blipFill>
          </p:spPr>
        </p:sp>
      </p:grpSp>
      <p:sp>
        <p:nvSpPr>
          <p:cNvPr id="29" name="TextBox 29"/>
          <p:cNvSpPr txBox="1"/>
          <p:nvPr/>
        </p:nvSpPr>
        <p:spPr>
          <a:xfrm>
            <a:off x="992238" y="853230"/>
            <a:ext cx="16303523" cy="697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1"/>
              </a:lnSpc>
            </a:pPr>
            <a:r>
              <a:rPr lang="en-US" sz="4200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Demo del Simulador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2238" y="1742780"/>
            <a:ext cx="17217923" cy="36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Una interfaz intuitiva que permite a cualquier ciudadano o funcionario explorar escenarios de inversión pública con solo hacer preguntas en lenguaje natural.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09227" y="8136284"/>
            <a:ext cx="4889744" cy="348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Simulación de escenarios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09227" y="8527409"/>
            <a:ext cx="4889744" cy="670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Proyecta el impacto de diferentes niveles de inversión por comuna y año.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99056" y="8136284"/>
            <a:ext cx="4889744" cy="348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Predicción de inversión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99056" y="8527409"/>
            <a:ext cx="4889744" cy="670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El modelo estima la inversión esperada según variables socioeconómicas.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188876" y="8136284"/>
            <a:ext cx="4889744" cy="348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Consultas en lenguaje natural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188876" y="8527409"/>
            <a:ext cx="4889744" cy="670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Pregunta al asistente conversacional sin necesidad de conocimientos técnicos.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28700" y="2803625"/>
            <a:ext cx="7818815" cy="4803880"/>
            <a:chOff x="0" y="0"/>
            <a:chExt cx="12193384" cy="749161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193436" cy="7491603"/>
            </a:xfrm>
            <a:custGeom>
              <a:avLst/>
              <a:gdLst/>
              <a:ahLst/>
              <a:cxnLst/>
              <a:rect l="l" t="t" r="r" b="b"/>
              <a:pathLst>
                <a:path w="12193436" h="7491603">
                  <a:moveTo>
                    <a:pt x="0" y="0"/>
                  </a:moveTo>
                  <a:lnTo>
                    <a:pt x="12193436" y="0"/>
                  </a:lnTo>
                  <a:lnTo>
                    <a:pt x="12193436" y="7491603"/>
                  </a:lnTo>
                  <a:lnTo>
                    <a:pt x="0" y="7491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368" r="-136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9499406" y="7211320"/>
            <a:ext cx="7805890" cy="2844194"/>
            <a:chOff x="0" y="0"/>
            <a:chExt cx="10407853" cy="37922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407776" cy="3792284"/>
            </a:xfrm>
            <a:custGeom>
              <a:avLst/>
              <a:gdLst/>
              <a:ahLst/>
              <a:cxnLst/>
              <a:rect l="l" t="t" r="r" b="b"/>
              <a:pathLst>
                <a:path w="10407776" h="3792284">
                  <a:moveTo>
                    <a:pt x="0" y="620660"/>
                  </a:moveTo>
                  <a:cubicBezTo>
                    <a:pt x="0" y="277780"/>
                    <a:pt x="152273" y="0"/>
                    <a:pt x="340233" y="0"/>
                  </a:cubicBezTo>
                  <a:lnTo>
                    <a:pt x="10067544" y="0"/>
                  </a:lnTo>
                  <a:cubicBezTo>
                    <a:pt x="10255503" y="0"/>
                    <a:pt x="10407776" y="277780"/>
                    <a:pt x="10407776" y="620660"/>
                  </a:cubicBezTo>
                  <a:lnTo>
                    <a:pt x="10407776" y="3171644"/>
                  </a:lnTo>
                  <a:cubicBezTo>
                    <a:pt x="10407776" y="3514525"/>
                    <a:pt x="10255503" y="3792284"/>
                    <a:pt x="10067544" y="3792284"/>
                  </a:cubicBezTo>
                  <a:lnTo>
                    <a:pt x="340233" y="3792284"/>
                  </a:lnTo>
                  <a:cubicBezTo>
                    <a:pt x="152273" y="3792284"/>
                    <a:pt x="0" y="3514293"/>
                    <a:pt x="0" y="3171644"/>
                  </a:cubicBezTo>
                  <a:close/>
                </a:path>
              </a:pathLst>
            </a:custGeom>
            <a:solidFill>
              <a:srgbClr val="DDEEE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782918" y="7622381"/>
            <a:ext cx="354359" cy="283521"/>
            <a:chOff x="0" y="0"/>
            <a:chExt cx="472478" cy="378028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472440" cy="378079"/>
            </a:xfrm>
            <a:custGeom>
              <a:avLst/>
              <a:gdLst/>
              <a:ahLst/>
              <a:cxnLst/>
              <a:rect l="l" t="t" r="r" b="b"/>
              <a:pathLst>
                <a:path w="472440" h="378079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72" r="-680" b="13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992238" y="1178566"/>
            <a:ext cx="16303523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Resultados del Modelo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99406" y="2782786"/>
            <a:ext cx="7805890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Hallazgos clave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99406" y="3442545"/>
            <a:ext cx="7805890" cy="3576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2601" lvl="1" indent="-241300" algn="l">
              <a:lnSpc>
                <a:spcPts val="3192"/>
              </a:lnSpc>
              <a:buFont typeface="Arial"/>
              <a:buChar char="•"/>
            </a:pPr>
            <a:r>
              <a:rPr lang="en-US" sz="2000" b="1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La tendencia temporal </a:t>
            </a:r>
            <a:r>
              <a:rPr lang="en-US" sz="20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fue la variable más influyente en el modelo, reflejando la evolución histórica de la inversión.</a:t>
            </a:r>
          </a:p>
          <a:p>
            <a:pPr marL="482601" lvl="1" indent="-241300" algn="l">
              <a:lnSpc>
                <a:spcPts val="3192"/>
              </a:lnSpc>
              <a:buFont typeface="Arial"/>
              <a:buChar char="•"/>
            </a:pPr>
            <a:r>
              <a:rPr lang="en-US" sz="2000" b="1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El estrato</a:t>
            </a:r>
            <a:r>
              <a:rPr lang="en-US" sz="20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tiene peso relevante en el modelo, aunque su efecto no es monotónico ni estable en todo el rango observado (N pequeño), se interpreta con cautela, no como relación causal confirmada.</a:t>
            </a:r>
          </a:p>
          <a:p>
            <a:pPr marL="482601" lvl="1" indent="-241300" algn="l">
              <a:lnSpc>
                <a:spcPts val="3192"/>
              </a:lnSpc>
              <a:buFont typeface="Arial"/>
              <a:buChar char="•"/>
            </a:pPr>
            <a:r>
              <a:rPr lang="en-US" sz="20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El desempeño varía por comuna dejada fuera (R² entre 0.45 y 0.77 según el fold), reflejo esperable de un N pequeño (21 comunas), no un error del modelo.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74180" y="7269513"/>
            <a:ext cx="6600977" cy="2623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R² ≈ 0.64 (± 0.11) — </a:t>
            </a:r>
            <a:r>
              <a:rPr lang="en-US" sz="2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validado con GroupKFold agrupado por comuna (5 folds, dejando territorios completos fuera del entrenamiento en cada uno). En promedio, el modelo explica el 64% de la variabilidad de la inversión en comunas que no vio durante ese entrenamiento.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284102" y="12303"/>
            <a:ext cx="9003898" cy="10274697"/>
            <a:chOff x="0" y="0"/>
            <a:chExt cx="954464" cy="108917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54464" cy="1089176"/>
            </a:xfrm>
            <a:custGeom>
              <a:avLst/>
              <a:gdLst/>
              <a:ahLst/>
              <a:cxnLst/>
              <a:rect l="l" t="t" r="r" b="b"/>
              <a:pathLst>
                <a:path w="954464" h="1089176">
                  <a:moveTo>
                    <a:pt x="0" y="0"/>
                  </a:moveTo>
                  <a:lnTo>
                    <a:pt x="954464" y="0"/>
                  </a:lnTo>
                  <a:lnTo>
                    <a:pt x="954464" y="1089176"/>
                  </a:lnTo>
                  <a:lnTo>
                    <a:pt x="0" y="1089176"/>
                  </a:lnTo>
                  <a:close/>
                </a:path>
              </a:pathLst>
            </a:custGeom>
            <a:blipFill>
              <a:blip r:embed="rId2"/>
              <a:stretch>
                <a:fillRect t="-173" b="-173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472574" y="477171"/>
            <a:ext cx="8115300" cy="1719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64"/>
              </a:lnSpc>
            </a:pPr>
            <a:r>
              <a:rPr lang="en-US" sz="5500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Inversión vs. Vulnerabilidad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4203835"/>
            <a:ext cx="7003047" cy="47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4122" lvl="1" indent="-232061" algn="ctr">
              <a:lnSpc>
                <a:spcPts val="3430"/>
              </a:lnSpc>
              <a:buFont typeface="Arial"/>
              <a:buChar char="•"/>
            </a:pPr>
            <a:r>
              <a:rPr lang="en-US" sz="2400" dirty="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Las </a:t>
            </a:r>
            <a:r>
              <a:rPr lang="en-US" sz="2400" dirty="0" err="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comunas</a:t>
            </a:r>
            <a:r>
              <a:rPr lang="en-US" sz="2400" dirty="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con mayor </a:t>
            </a:r>
            <a:r>
              <a:rPr lang="en-US" sz="2400" dirty="0" err="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participación</a:t>
            </a:r>
            <a:r>
              <a:rPr lang="en-US" sz="2400" dirty="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en</a:t>
            </a:r>
            <a:r>
              <a:rPr lang="en-US" sz="2400" dirty="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régimen</a:t>
            </a:r>
            <a:r>
              <a:rPr lang="en-US" sz="2400" dirty="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subsidiado</a:t>
            </a:r>
            <a:r>
              <a:rPr lang="en-US" sz="2400" dirty="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de </a:t>
            </a:r>
            <a:r>
              <a:rPr lang="en-US" sz="2400" dirty="0" err="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salud</a:t>
            </a:r>
            <a:r>
              <a:rPr lang="en-US" sz="2400" dirty="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(r = -0.38) y </a:t>
            </a:r>
            <a:r>
              <a:rPr lang="en-US" sz="2400" dirty="0" err="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en</a:t>
            </a:r>
            <a:r>
              <a:rPr lang="en-US" sz="2400" dirty="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programas</a:t>
            </a:r>
            <a:r>
              <a:rPr lang="en-US" sz="2400" dirty="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de </a:t>
            </a:r>
            <a:r>
              <a:rPr lang="en-US" sz="2400" dirty="0" err="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inclusión</a:t>
            </a:r>
            <a:r>
              <a:rPr lang="en-US" sz="2400" dirty="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social (r = -0.34) </a:t>
            </a:r>
            <a:r>
              <a:rPr lang="en-US" sz="2400" dirty="0" err="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muestran</a:t>
            </a:r>
            <a:r>
              <a:rPr lang="en-US" sz="2400" dirty="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400" dirty="0" err="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en</a:t>
            </a:r>
            <a:r>
              <a:rPr lang="en-US" sz="2400" dirty="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promedio</a:t>
            </a:r>
            <a:r>
              <a:rPr lang="en-US" sz="2400" dirty="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400" dirty="0" err="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menor</a:t>
            </a:r>
            <a:r>
              <a:rPr lang="en-US" sz="2400" dirty="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inversión</a:t>
            </a:r>
            <a:r>
              <a:rPr lang="en-US" sz="2400" dirty="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pública</a:t>
            </a:r>
            <a:r>
              <a:rPr lang="en-US" sz="2400" dirty="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histórica</a:t>
            </a:r>
            <a:r>
              <a:rPr lang="en-US" sz="2400" dirty="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, no mayor. Es </a:t>
            </a:r>
            <a:r>
              <a:rPr lang="en-US" sz="2400" dirty="0" err="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evidencia</a:t>
            </a:r>
            <a:r>
              <a:rPr lang="en-US" sz="2400" dirty="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empírica</a:t>
            </a:r>
            <a:r>
              <a:rPr lang="en-US" sz="2400" dirty="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de </a:t>
            </a:r>
            <a:r>
              <a:rPr lang="en-US" sz="2400" dirty="0" err="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una</a:t>
            </a:r>
            <a:r>
              <a:rPr lang="en-US" sz="2400" dirty="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posible</a:t>
            </a:r>
            <a:r>
              <a:rPr lang="en-US" sz="2400" dirty="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desalineación</a:t>
            </a:r>
            <a:r>
              <a:rPr lang="en-US" sz="2400" dirty="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entre </a:t>
            </a:r>
            <a:r>
              <a:rPr lang="en-US" sz="2400" dirty="0" err="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necesidad</a:t>
            </a:r>
            <a:r>
              <a:rPr lang="en-US" sz="2400" dirty="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social y </a:t>
            </a:r>
            <a:r>
              <a:rPr lang="en-US" sz="2400" dirty="0" err="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asignación</a:t>
            </a:r>
            <a:r>
              <a:rPr lang="en-US" sz="2400" dirty="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de </a:t>
            </a:r>
            <a:r>
              <a:rPr lang="en-US" sz="2400" dirty="0" err="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recursos</a:t>
            </a:r>
            <a:r>
              <a:rPr lang="en-US" sz="2400" dirty="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ctr">
              <a:lnSpc>
                <a:spcPts val="3430"/>
              </a:lnSpc>
            </a:pPr>
            <a:endParaRPr lang="en-US" sz="2400" dirty="0">
              <a:solidFill>
                <a:srgbClr val="405449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64124" lvl="1" indent="-232062" algn="ctr">
              <a:lnSpc>
                <a:spcPts val="3430"/>
              </a:lnSpc>
              <a:buFont typeface="Arial"/>
              <a:buChar char="•"/>
            </a:pPr>
            <a:r>
              <a:rPr lang="en-US" sz="2400" dirty="0" err="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Correlación</a:t>
            </a:r>
            <a:r>
              <a:rPr lang="en-US" sz="2400" dirty="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, no </a:t>
            </a:r>
            <a:r>
              <a:rPr lang="en-US" sz="2400" dirty="0" err="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causalidad</a:t>
            </a:r>
            <a:r>
              <a:rPr lang="en-US" sz="2400" dirty="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. N=84 es </a:t>
            </a:r>
            <a:r>
              <a:rPr lang="en-US" sz="2400" dirty="0" err="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una</a:t>
            </a:r>
            <a:r>
              <a:rPr lang="en-US" sz="2400" dirty="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muestra</a:t>
            </a:r>
            <a:r>
              <a:rPr lang="en-US" sz="2400" dirty="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pequeña</a:t>
            </a:r>
            <a:r>
              <a:rPr lang="en-US" sz="2400" dirty="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; el </a:t>
            </a:r>
            <a:r>
              <a:rPr lang="en-US" sz="2400" dirty="0" err="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efecto</a:t>
            </a:r>
            <a:r>
              <a:rPr lang="en-US" sz="2400" dirty="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del </a:t>
            </a:r>
            <a:r>
              <a:rPr lang="en-US" sz="2400" dirty="0" err="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estrato</a:t>
            </a:r>
            <a:r>
              <a:rPr lang="en-US" sz="2400" dirty="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(r = -0.16) no es </a:t>
            </a:r>
            <a:r>
              <a:rPr lang="en-US" sz="2400" dirty="0" err="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monotónico</a:t>
            </a:r>
            <a:r>
              <a:rPr lang="en-US" sz="2400" dirty="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según</a:t>
            </a:r>
            <a:r>
              <a:rPr lang="en-US" sz="2400" dirty="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el </a:t>
            </a:r>
            <a:r>
              <a:rPr lang="en-US" sz="2400" dirty="0" err="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modelo</a:t>
            </a:r>
            <a:r>
              <a:rPr lang="en-US" sz="2400" dirty="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68447" y="2364635"/>
            <a:ext cx="6323554" cy="1801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7"/>
              </a:lnSpc>
            </a:pPr>
            <a:r>
              <a:rPr lang="en-US" sz="2266" b="1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Correlación entre vulnerabilidad social e inversión histórica (2015-2018, N=84)</a:t>
            </a:r>
          </a:p>
          <a:p>
            <a:pPr algn="ctr">
              <a:lnSpc>
                <a:spcPts val="3617"/>
              </a:lnSpc>
            </a:pPr>
            <a:endParaRPr lang="en-US" sz="2266" b="1">
              <a:solidFill>
                <a:srgbClr val="405449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3617"/>
              </a:lnSpc>
            </a:pPr>
            <a:endParaRPr lang="en-US" sz="2266" b="1">
              <a:solidFill>
                <a:srgbClr val="405449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8" y="2999927"/>
            <a:ext cx="3822649" cy="867966"/>
            <a:chOff x="0" y="0"/>
            <a:chExt cx="5096866" cy="115728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96764" cy="1157224"/>
            </a:xfrm>
            <a:custGeom>
              <a:avLst/>
              <a:gdLst/>
              <a:ahLst/>
              <a:cxnLst/>
              <a:rect l="l" t="t" r="r" b="b"/>
              <a:pathLst>
                <a:path w="5096764" h="1157224">
                  <a:moveTo>
                    <a:pt x="0" y="292354"/>
                  </a:moveTo>
                  <a:cubicBezTo>
                    <a:pt x="0" y="130937"/>
                    <a:pt x="130937" y="0"/>
                    <a:pt x="292354" y="0"/>
                  </a:cubicBezTo>
                  <a:lnTo>
                    <a:pt x="4804410" y="0"/>
                  </a:lnTo>
                  <a:cubicBezTo>
                    <a:pt x="4965954" y="0"/>
                    <a:pt x="5096764" y="130937"/>
                    <a:pt x="5096764" y="292354"/>
                  </a:cubicBezTo>
                  <a:lnTo>
                    <a:pt x="5096764" y="864870"/>
                  </a:lnTo>
                  <a:cubicBezTo>
                    <a:pt x="5096764" y="1026414"/>
                    <a:pt x="4965827" y="1157224"/>
                    <a:pt x="4804410" y="1157224"/>
                  </a:cubicBezTo>
                  <a:lnTo>
                    <a:pt x="292354" y="1157224"/>
                  </a:lnTo>
                  <a:cubicBezTo>
                    <a:pt x="130937" y="1157351"/>
                    <a:pt x="0" y="1026414"/>
                    <a:pt x="0" y="864870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024142" y="2999927"/>
            <a:ext cx="3822649" cy="867966"/>
            <a:chOff x="0" y="0"/>
            <a:chExt cx="5096866" cy="11572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96764" cy="1157224"/>
            </a:xfrm>
            <a:custGeom>
              <a:avLst/>
              <a:gdLst/>
              <a:ahLst/>
              <a:cxnLst/>
              <a:rect l="l" t="t" r="r" b="b"/>
              <a:pathLst>
                <a:path w="5096764" h="1157224">
                  <a:moveTo>
                    <a:pt x="0" y="292354"/>
                  </a:moveTo>
                  <a:cubicBezTo>
                    <a:pt x="0" y="130937"/>
                    <a:pt x="130937" y="0"/>
                    <a:pt x="292354" y="0"/>
                  </a:cubicBezTo>
                  <a:lnTo>
                    <a:pt x="4804410" y="0"/>
                  </a:lnTo>
                  <a:cubicBezTo>
                    <a:pt x="4965954" y="0"/>
                    <a:pt x="5096764" y="130937"/>
                    <a:pt x="5096764" y="292354"/>
                  </a:cubicBezTo>
                  <a:lnTo>
                    <a:pt x="5096764" y="864870"/>
                  </a:lnTo>
                  <a:cubicBezTo>
                    <a:pt x="5096764" y="1026414"/>
                    <a:pt x="4965827" y="1157224"/>
                    <a:pt x="4804410" y="1157224"/>
                  </a:cubicBezTo>
                  <a:lnTo>
                    <a:pt x="292354" y="1157224"/>
                  </a:lnTo>
                  <a:cubicBezTo>
                    <a:pt x="130937" y="1157351"/>
                    <a:pt x="0" y="1026414"/>
                    <a:pt x="0" y="864870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92238" y="4077148"/>
            <a:ext cx="3822649" cy="867966"/>
            <a:chOff x="0" y="0"/>
            <a:chExt cx="5096866" cy="115728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096764" cy="1157224"/>
            </a:xfrm>
            <a:custGeom>
              <a:avLst/>
              <a:gdLst/>
              <a:ahLst/>
              <a:cxnLst/>
              <a:rect l="l" t="t" r="r" b="b"/>
              <a:pathLst>
                <a:path w="5096764" h="1157224">
                  <a:moveTo>
                    <a:pt x="0" y="292354"/>
                  </a:moveTo>
                  <a:cubicBezTo>
                    <a:pt x="0" y="130937"/>
                    <a:pt x="130937" y="0"/>
                    <a:pt x="292354" y="0"/>
                  </a:cubicBezTo>
                  <a:lnTo>
                    <a:pt x="4804410" y="0"/>
                  </a:lnTo>
                  <a:cubicBezTo>
                    <a:pt x="4965954" y="0"/>
                    <a:pt x="5096764" y="130937"/>
                    <a:pt x="5096764" y="292354"/>
                  </a:cubicBezTo>
                  <a:lnTo>
                    <a:pt x="5096764" y="864870"/>
                  </a:lnTo>
                  <a:cubicBezTo>
                    <a:pt x="5096764" y="1026414"/>
                    <a:pt x="4965827" y="1157224"/>
                    <a:pt x="4804410" y="1157224"/>
                  </a:cubicBezTo>
                  <a:lnTo>
                    <a:pt x="292354" y="1157224"/>
                  </a:lnTo>
                  <a:cubicBezTo>
                    <a:pt x="130937" y="1157351"/>
                    <a:pt x="0" y="1026414"/>
                    <a:pt x="0" y="864870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024142" y="4077148"/>
            <a:ext cx="3822649" cy="867966"/>
            <a:chOff x="0" y="0"/>
            <a:chExt cx="5096866" cy="11572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96764" cy="1157224"/>
            </a:xfrm>
            <a:custGeom>
              <a:avLst/>
              <a:gdLst/>
              <a:ahLst/>
              <a:cxnLst/>
              <a:rect l="l" t="t" r="r" b="b"/>
              <a:pathLst>
                <a:path w="5096764" h="1157224">
                  <a:moveTo>
                    <a:pt x="0" y="292354"/>
                  </a:moveTo>
                  <a:cubicBezTo>
                    <a:pt x="0" y="130937"/>
                    <a:pt x="130937" y="0"/>
                    <a:pt x="292354" y="0"/>
                  </a:cubicBezTo>
                  <a:lnTo>
                    <a:pt x="4804410" y="0"/>
                  </a:lnTo>
                  <a:cubicBezTo>
                    <a:pt x="4965954" y="0"/>
                    <a:pt x="5096764" y="130937"/>
                    <a:pt x="5096764" y="292354"/>
                  </a:cubicBezTo>
                  <a:lnTo>
                    <a:pt x="5096764" y="864870"/>
                  </a:lnTo>
                  <a:cubicBezTo>
                    <a:pt x="5096764" y="1026414"/>
                    <a:pt x="4965827" y="1157224"/>
                    <a:pt x="4804410" y="1157224"/>
                  </a:cubicBezTo>
                  <a:lnTo>
                    <a:pt x="292354" y="1157224"/>
                  </a:lnTo>
                  <a:cubicBezTo>
                    <a:pt x="130937" y="1157351"/>
                    <a:pt x="0" y="1026414"/>
                    <a:pt x="0" y="864870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992238" y="5154368"/>
            <a:ext cx="7854553" cy="867966"/>
            <a:chOff x="0" y="0"/>
            <a:chExt cx="10472738" cy="115728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472674" cy="1157224"/>
            </a:xfrm>
            <a:custGeom>
              <a:avLst/>
              <a:gdLst/>
              <a:ahLst/>
              <a:cxnLst/>
              <a:rect l="l" t="t" r="r" b="b"/>
              <a:pathLst>
                <a:path w="10472674" h="1157224">
                  <a:moveTo>
                    <a:pt x="0" y="292354"/>
                  </a:moveTo>
                  <a:cubicBezTo>
                    <a:pt x="0" y="130937"/>
                    <a:pt x="130937" y="0"/>
                    <a:pt x="292354" y="0"/>
                  </a:cubicBezTo>
                  <a:lnTo>
                    <a:pt x="10180320" y="0"/>
                  </a:lnTo>
                  <a:cubicBezTo>
                    <a:pt x="10341863" y="0"/>
                    <a:pt x="10472674" y="130937"/>
                    <a:pt x="10472674" y="292354"/>
                  </a:cubicBezTo>
                  <a:lnTo>
                    <a:pt x="10472674" y="864870"/>
                  </a:lnTo>
                  <a:cubicBezTo>
                    <a:pt x="10472674" y="1026414"/>
                    <a:pt x="10341737" y="1157224"/>
                    <a:pt x="10180320" y="1157224"/>
                  </a:cubicBezTo>
                  <a:lnTo>
                    <a:pt x="292354" y="1157224"/>
                  </a:lnTo>
                  <a:cubicBezTo>
                    <a:pt x="130937" y="1157351"/>
                    <a:pt x="0" y="1026414"/>
                    <a:pt x="0" y="864870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977951" y="6859638"/>
            <a:ext cx="3851243" cy="963263"/>
            <a:chOff x="0" y="0"/>
            <a:chExt cx="5134991" cy="128435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134991" cy="1284351"/>
            </a:xfrm>
            <a:custGeom>
              <a:avLst/>
              <a:gdLst/>
              <a:ahLst/>
              <a:cxnLst/>
              <a:rect l="l" t="t" r="r" b="b"/>
              <a:pathLst>
                <a:path w="5134991" h="1284351">
                  <a:moveTo>
                    <a:pt x="0" y="301371"/>
                  </a:moveTo>
                  <a:cubicBezTo>
                    <a:pt x="0" y="134874"/>
                    <a:pt x="134874" y="0"/>
                    <a:pt x="301371" y="0"/>
                  </a:cubicBezTo>
                  <a:lnTo>
                    <a:pt x="4833620" y="0"/>
                  </a:lnTo>
                  <a:cubicBezTo>
                    <a:pt x="4999990" y="0"/>
                    <a:pt x="5134991" y="134874"/>
                    <a:pt x="5134991" y="301371"/>
                  </a:cubicBezTo>
                  <a:lnTo>
                    <a:pt x="5134991" y="982980"/>
                  </a:lnTo>
                  <a:cubicBezTo>
                    <a:pt x="5134991" y="1149350"/>
                    <a:pt x="5000117" y="1284351"/>
                    <a:pt x="4833620" y="1284351"/>
                  </a:cubicBezTo>
                  <a:lnTo>
                    <a:pt x="301371" y="1284351"/>
                  </a:lnTo>
                  <a:cubicBezTo>
                    <a:pt x="134874" y="1284351"/>
                    <a:pt x="0" y="1149350"/>
                    <a:pt x="0" y="982980"/>
                  </a:cubicBezTo>
                  <a:close/>
                </a:path>
              </a:pathLst>
            </a:custGeom>
            <a:solidFill>
              <a:srgbClr val="FAFFFA"/>
            </a:solidFill>
            <a:ln w="28576" cap="sq">
              <a:solidFill>
                <a:srgbClr val="CED9CE"/>
              </a:solidFill>
              <a:prstDash val="solid"/>
              <a:miter/>
            </a:ln>
          </p:spPr>
          <p:txBody>
            <a:bodyPr/>
            <a:lstStyle/>
            <a:p>
              <a:endParaRPr lang="es-CO" dirty="0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009855" y="6859638"/>
            <a:ext cx="3851224" cy="963216"/>
            <a:chOff x="0" y="0"/>
            <a:chExt cx="5134966" cy="128428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134991" cy="1284351"/>
            </a:xfrm>
            <a:custGeom>
              <a:avLst/>
              <a:gdLst/>
              <a:ahLst/>
              <a:cxnLst/>
              <a:rect l="l" t="t" r="r" b="b"/>
              <a:pathLst>
                <a:path w="5134991" h="1284351">
                  <a:moveTo>
                    <a:pt x="0" y="301371"/>
                  </a:moveTo>
                  <a:cubicBezTo>
                    <a:pt x="0" y="134874"/>
                    <a:pt x="134874" y="0"/>
                    <a:pt x="301371" y="0"/>
                  </a:cubicBezTo>
                  <a:lnTo>
                    <a:pt x="4833620" y="0"/>
                  </a:lnTo>
                  <a:cubicBezTo>
                    <a:pt x="4999990" y="0"/>
                    <a:pt x="5134991" y="134874"/>
                    <a:pt x="5134991" y="301371"/>
                  </a:cubicBezTo>
                  <a:lnTo>
                    <a:pt x="5134991" y="982980"/>
                  </a:lnTo>
                  <a:cubicBezTo>
                    <a:pt x="5134991" y="1149350"/>
                    <a:pt x="5000117" y="1284351"/>
                    <a:pt x="4833620" y="1284351"/>
                  </a:cubicBezTo>
                  <a:lnTo>
                    <a:pt x="301371" y="1284351"/>
                  </a:lnTo>
                  <a:cubicBezTo>
                    <a:pt x="134874" y="1284351"/>
                    <a:pt x="0" y="1149350"/>
                    <a:pt x="0" y="982980"/>
                  </a:cubicBezTo>
                  <a:close/>
                </a:path>
              </a:pathLst>
            </a:custGeom>
            <a:solidFill>
              <a:srgbClr val="FAFFFA"/>
            </a:solidFill>
            <a:ln w="28576" cap="sq">
              <a:solidFill>
                <a:srgbClr val="CED9CE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9275264" y="2174529"/>
            <a:ext cx="8205492" cy="7013372"/>
            <a:chOff x="0" y="0"/>
            <a:chExt cx="10940656" cy="935116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940669" cy="9351137"/>
            </a:xfrm>
            <a:custGeom>
              <a:avLst/>
              <a:gdLst/>
              <a:ahLst/>
              <a:cxnLst/>
              <a:rect l="l" t="t" r="r" b="b"/>
              <a:pathLst>
                <a:path w="10940669" h="9351137">
                  <a:moveTo>
                    <a:pt x="0" y="467868"/>
                  </a:moveTo>
                  <a:cubicBezTo>
                    <a:pt x="0" y="209423"/>
                    <a:pt x="209423" y="0"/>
                    <a:pt x="467868" y="0"/>
                  </a:cubicBezTo>
                  <a:lnTo>
                    <a:pt x="10472801" y="0"/>
                  </a:lnTo>
                  <a:cubicBezTo>
                    <a:pt x="10731119" y="0"/>
                    <a:pt x="10940669" y="209423"/>
                    <a:pt x="10940669" y="467868"/>
                  </a:cubicBezTo>
                  <a:lnTo>
                    <a:pt x="10940669" y="8883269"/>
                  </a:lnTo>
                  <a:cubicBezTo>
                    <a:pt x="10940669" y="9141587"/>
                    <a:pt x="10731246" y="9351137"/>
                    <a:pt x="10472801" y="9351137"/>
                  </a:cubicBezTo>
                  <a:lnTo>
                    <a:pt x="467868" y="9351137"/>
                  </a:lnTo>
                  <a:cubicBezTo>
                    <a:pt x="209423" y="9351137"/>
                    <a:pt x="0" y="9141714"/>
                    <a:pt x="0" y="8883269"/>
                  </a:cubicBezTo>
                  <a:close/>
                </a:path>
              </a:pathLst>
            </a:custGeom>
            <a:solidFill>
              <a:srgbClr val="438951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9518894" y="2999927"/>
            <a:ext cx="28575" cy="1463878"/>
            <a:chOff x="0" y="0"/>
            <a:chExt cx="38100" cy="195183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8100" cy="1951863"/>
            </a:xfrm>
            <a:custGeom>
              <a:avLst/>
              <a:gdLst/>
              <a:ahLst/>
              <a:cxnLst/>
              <a:rect l="l" t="t" r="r" b="b"/>
              <a:pathLst>
                <a:path w="38100" h="1951863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932813"/>
                  </a:lnTo>
                  <a:cubicBezTo>
                    <a:pt x="38100" y="1943354"/>
                    <a:pt x="29591" y="1951863"/>
                    <a:pt x="19050" y="1951863"/>
                  </a:cubicBezTo>
                  <a:cubicBezTo>
                    <a:pt x="8509" y="1951863"/>
                    <a:pt x="0" y="1943354"/>
                    <a:pt x="0" y="1932813"/>
                  </a:cubicBezTo>
                  <a:close/>
                </a:path>
              </a:pathLst>
            </a:custGeom>
            <a:solidFill>
              <a:srgbClr val="438951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977951" y="8032404"/>
            <a:ext cx="4046192" cy="963216"/>
            <a:chOff x="0" y="0"/>
            <a:chExt cx="5134966" cy="128428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134991" cy="1284351"/>
            </a:xfrm>
            <a:custGeom>
              <a:avLst/>
              <a:gdLst/>
              <a:ahLst/>
              <a:cxnLst/>
              <a:rect l="l" t="t" r="r" b="b"/>
              <a:pathLst>
                <a:path w="5134991" h="1284351">
                  <a:moveTo>
                    <a:pt x="0" y="301371"/>
                  </a:moveTo>
                  <a:cubicBezTo>
                    <a:pt x="0" y="134874"/>
                    <a:pt x="134874" y="0"/>
                    <a:pt x="301371" y="0"/>
                  </a:cubicBezTo>
                  <a:lnTo>
                    <a:pt x="4833620" y="0"/>
                  </a:lnTo>
                  <a:cubicBezTo>
                    <a:pt x="4999990" y="0"/>
                    <a:pt x="5134991" y="134874"/>
                    <a:pt x="5134991" y="301371"/>
                  </a:cubicBezTo>
                  <a:lnTo>
                    <a:pt x="5134991" y="982980"/>
                  </a:lnTo>
                  <a:cubicBezTo>
                    <a:pt x="5134991" y="1149350"/>
                    <a:pt x="5000117" y="1284351"/>
                    <a:pt x="4833620" y="1284351"/>
                  </a:cubicBezTo>
                  <a:lnTo>
                    <a:pt x="301371" y="1284351"/>
                  </a:lnTo>
                  <a:cubicBezTo>
                    <a:pt x="134874" y="1284351"/>
                    <a:pt x="0" y="1149350"/>
                    <a:pt x="0" y="982980"/>
                  </a:cubicBezTo>
                  <a:close/>
                </a:path>
              </a:pathLst>
            </a:custGeom>
            <a:solidFill>
              <a:srgbClr val="FAFFFA"/>
            </a:solidFill>
            <a:ln w="28576" cap="sq">
              <a:solidFill>
                <a:srgbClr val="CED9CE"/>
              </a:solidFill>
              <a:prstDash val="solid"/>
              <a:miter/>
            </a:ln>
          </p:spPr>
        </p:sp>
      </p:grpSp>
      <p:sp>
        <p:nvSpPr>
          <p:cNvPr id="26" name="TextBox 26">
            <a:hlinkClick r:id="rId2"/>
          </p:cNvPr>
          <p:cNvSpPr txBox="1"/>
          <p:nvPr/>
        </p:nvSpPr>
        <p:spPr>
          <a:xfrm>
            <a:off x="1536649" y="8289579"/>
            <a:ext cx="3278238" cy="357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dirty="0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    Docker - /</a:t>
            </a:r>
            <a:r>
              <a:rPr lang="en-US" sz="2300" dirty="0" err="1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DIAToolkit</a:t>
            </a:r>
            <a:endParaRPr lang="en-US" sz="2300" dirty="0">
              <a:solidFill>
                <a:srgbClr val="405449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grpSp>
        <p:nvGrpSpPr>
          <p:cNvPr id="27" name="Group 27"/>
          <p:cNvGrpSpPr/>
          <p:nvPr/>
        </p:nvGrpSpPr>
        <p:grpSpPr>
          <a:xfrm>
            <a:off x="1028700" y="8096061"/>
            <a:ext cx="836681" cy="835901"/>
            <a:chOff x="0" y="0"/>
            <a:chExt cx="1115575" cy="1114534"/>
          </a:xfrm>
        </p:grpSpPr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3"/>
            <a:srcRect l="23793" r="23793"/>
            <a:stretch>
              <a:fillRect/>
            </a:stretch>
          </p:blipFill>
          <p:spPr>
            <a:xfrm>
              <a:off x="0" y="0"/>
              <a:ext cx="1115575" cy="1114534"/>
            </a:xfrm>
            <a:prstGeom prst="rect">
              <a:avLst/>
            </a:prstGeom>
          </p:spPr>
        </p:pic>
      </p:grpSp>
      <p:sp>
        <p:nvSpPr>
          <p:cNvPr id="29" name="TextBox 29"/>
          <p:cNvSpPr txBox="1"/>
          <p:nvPr/>
        </p:nvSpPr>
        <p:spPr>
          <a:xfrm>
            <a:off x="992238" y="1070524"/>
            <a:ext cx="16303523" cy="789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65"/>
              </a:lnSpc>
            </a:pPr>
            <a:r>
              <a:rPr lang="en-US" sz="4700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Más transparencia para mejores decisiones públicas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2238" y="2374259"/>
            <a:ext cx="7854553" cy="39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Tecnologías utilizadas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35869" y="3234033"/>
            <a:ext cx="3335388" cy="39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Pandas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267773" y="3234033"/>
            <a:ext cx="3335388" cy="39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NumPy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35869" y="4311253"/>
            <a:ext cx="3335388" cy="39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Scikit-Learn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267773" y="4311253"/>
            <a:ext cx="3335388" cy="39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Flask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35869" y="5388473"/>
            <a:ext cx="7367292" cy="39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Chart.js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92238" y="6248248"/>
            <a:ext cx="7854553" cy="39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Acceso al proyecto</a:t>
            </a:r>
          </a:p>
        </p:txBody>
      </p:sp>
      <p:sp>
        <p:nvSpPr>
          <p:cNvPr id="37" name="TextBox 37">
            <a:hlinkClick r:id="rId4"/>
          </p:cNvPr>
          <p:cNvSpPr txBox="1"/>
          <p:nvPr/>
        </p:nvSpPr>
        <p:spPr>
          <a:xfrm>
            <a:off x="1725527" y="7178907"/>
            <a:ext cx="3542246" cy="723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dirty="0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 GitHub -/</a:t>
            </a:r>
            <a:r>
              <a:rPr lang="en-US" sz="2300" dirty="0" err="1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DIAToolkit</a:t>
            </a:r>
            <a:endParaRPr lang="en-US" sz="2300" dirty="0">
              <a:solidFill>
                <a:srgbClr val="405449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l">
              <a:lnSpc>
                <a:spcPts val="2870"/>
              </a:lnSpc>
            </a:pPr>
            <a:endParaRPr lang="en-US" sz="2300" dirty="0">
              <a:solidFill>
                <a:srgbClr val="405449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5296348" y="7136606"/>
            <a:ext cx="3278238" cy="399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🖥️</a:t>
            </a:r>
            <a:r>
              <a:rPr lang="en-US" sz="2300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 Demo en vivo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518894" y="2374259"/>
            <a:ext cx="7718222" cy="39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Frase final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884273" y="3121666"/>
            <a:ext cx="7352852" cy="1153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1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"La inteligencia artificial no reemplaza las decisiones públicas; proporciona evidencia objetiva para apoyar decisiones más transparentes y basadas en datos."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121936" y="7034035"/>
            <a:ext cx="603591" cy="602810"/>
            <a:chOff x="0" y="0"/>
            <a:chExt cx="804788" cy="803747"/>
          </a:xfrm>
        </p:grpSpPr>
        <p:pic>
          <p:nvPicPr>
            <p:cNvPr id="42" name="Picture 42"/>
            <p:cNvPicPr>
              <a:picLocks noChangeAspect="1"/>
            </p:cNvPicPr>
            <p:nvPr/>
          </p:nvPicPr>
          <p:blipFill>
            <a:blip r:embed="rId5"/>
            <a:srcRect t="64" b="64"/>
            <a:stretch>
              <a:fillRect/>
            </a:stretch>
          </p:blipFill>
          <p:spPr>
            <a:xfrm>
              <a:off x="0" y="0"/>
              <a:ext cx="804788" cy="80374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675</Words>
  <Application>Microsoft Office PowerPoint</Application>
  <PresentationFormat>Personalizado</PresentationFormat>
  <Paragraphs>81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5" baseType="lpstr">
      <vt:lpstr>Calibri</vt:lpstr>
      <vt:lpstr>Fraunces Light</vt:lpstr>
      <vt:lpstr>Arimo Bold</vt:lpstr>
      <vt:lpstr>Fraunces</vt:lpstr>
      <vt:lpstr>Arimo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Simulador de Impacto Presupuestal</dc:title>
  <cp:lastModifiedBy>Juan Hernandez</cp:lastModifiedBy>
  <cp:revision>3</cp:revision>
  <dcterms:created xsi:type="dcterms:W3CDTF">2006-08-16T00:00:00Z</dcterms:created>
  <dcterms:modified xsi:type="dcterms:W3CDTF">2026-07-13T18:19:04Z</dcterms:modified>
  <dc:identifier>DAHPMX0lJb8</dc:identifier>
</cp:coreProperties>
</file>